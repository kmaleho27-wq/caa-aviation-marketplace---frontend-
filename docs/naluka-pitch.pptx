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32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AVIATION  ·  COMPLIANCE  ·  ESCROW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Escrow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for African Aviation.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help airlines and AMOs cut compliance admin from days to minutes, prove it to SACAA inspectors with one click, and pay contractors with the trust of a Part 145 contract.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46863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sales pitch · prepared for Tier 0 customer-dev calls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869680" y="0"/>
            <a:ext cx="274320" cy="5143500"/>
          </a:xfrm>
          <a:prstGeom prst="rect">
            <a:avLst/>
          </a:prstGeom>
          <a:solidFill>
            <a:srgbClr val="D4A93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probably one of these conversations: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9748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OFFICER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2331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"Last SACAA inspection cost us 3 person-weeks of PDF hunting and one very stressed officer. We still got hit with a finding because Pilot X's medical lapsed by 2 days and nobody noticed."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828800"/>
            <a:ext cx="269748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8745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429000" y="233172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MANAGER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29000" y="2606040"/>
            <a:ext cx="2331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"Our DAME quit. We had 47 medicals due in the next 6 months. Nobody tracked it. Two pilots flew expired."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828800"/>
            <a:ext cx="269748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8745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6217920" y="233172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DIRECTOR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17920" y="2606040"/>
            <a:ext cx="2331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pay our maintenance contractor 30 days after invoice. They keep calling for advances. We trust them but trust isn't a contract."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948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none of these resonate, you're probably not the ICP — and that's fine.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NALUKA DOES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pillars, in order of pain.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EXPIRY WATCHDOG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1945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licence, medical, type rating and AMP renewal tracked. We notify your team — and the operator who manages them — 90, 30, and 7 days before expiry. Zero surprises.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371600" y="2880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AUDIT PACK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324612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date range. PDF or JSON, with a hash-chained integrity proof every SACAA inspector or insurance underwriter can verify independently. The 3-week PDF hunt becomes a 3-second download.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7160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FOR CREW + PARTS + MRO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42976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PayFast-backed escrow held until digital sign-off. Contractor knows the money's there. You know the work won't be invoiced before it's delivered. Audit trail recorded automatically.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trends made this product viable in 2026.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9748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574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+40%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SACAA FINDINGS &amp; SUSPENSIONS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posture is hardening. Operators that paper-tiger'd compliance for years are getting hit with real penalties.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828800"/>
            <a:ext cx="269748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0574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429000" y="3017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MID-MARKET CREW IS CONTRACT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29000" y="33375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Post-COVID, lean cores rotate contractors. Tracking compliance on a workforce you don't fully employ is harder than ever.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828800"/>
            <a:ext cx="269748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20574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6217920" y="3017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ON PAYFAST ESCROW RAILS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rails finally make escrow cheap and instant. Five years ago, this product was 4× the cost to build.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Naluka vs everything you might use today.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currently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9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get from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9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9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spreadsheet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F5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product. Notifications. Audit pack. Escrow.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9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 (mid-market)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F5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crew compliance. Cheaper. Native escrow. CAMP stays for maintenance, we sit alongside for crew.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9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AMOS (enterprise)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F5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You're not our customer — call us back when you outgrow AMOS.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9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aviation consultancy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F5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become your partner on Naluka, not your bottleneck. We're the software they wish they had.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9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Aerlex / AvJobs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F5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list jobs. We close them with money + sign-off + audit.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4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OPERATOR 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steps. Audit-ready by step five.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64592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057400"/>
            <a:ext cx="457200" cy="457200"/>
          </a:xfrm>
          <a:prstGeom prst="ellipse">
            <a:avLst/>
          </a:prstGeom>
          <a:solidFill>
            <a:srgbClr val="D4A934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team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upload bulks 200 pilots in 30 sec. Or each member self-registers.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828800"/>
            <a:ext cx="164592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2057400"/>
            <a:ext cx="457200" cy="457200"/>
          </a:xfrm>
          <a:prstGeom prst="ellipse">
            <a:avLst/>
          </a:prstGeom>
          <a:solidFill>
            <a:srgbClr val="D4A934"/>
          </a:solidFill>
          <a:ln/>
        </p:spPr>
      </p:sp>
      <p:sp>
        <p:nvSpPr>
          <p:cNvPr id="12" name="Text 10"/>
          <p:cNvSpPr/>
          <p:nvPr/>
        </p:nvSpPr>
        <p:spPr>
          <a:xfrm>
            <a:off x="237744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86000" y="2606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0" y="3246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SACAA cross-check within 4 business hours. Verified = listed + bookable.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40480" y="1828800"/>
            <a:ext cx="164592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69080" y="2057400"/>
            <a:ext cx="457200" cy="457200"/>
          </a:xfrm>
          <a:prstGeom prst="ellipse">
            <a:avLst/>
          </a:prstGeom>
          <a:solidFill>
            <a:srgbClr val="D4A934"/>
          </a:solidFill>
          <a:ln/>
        </p:spPr>
      </p:sp>
      <p:sp>
        <p:nvSpPr>
          <p:cNvPr id="17" name="Text 15"/>
          <p:cNvSpPr/>
          <p:nvPr/>
        </p:nvSpPr>
        <p:spPr>
          <a:xfrm>
            <a:off x="406908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977640" y="2606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/ procure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77640" y="3246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a contractor or buy a part. Money lands in PayFast escrow.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32120" y="1828800"/>
            <a:ext cx="164592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60720" y="2057400"/>
            <a:ext cx="457200" cy="457200"/>
          </a:xfrm>
          <a:prstGeom prst="ellipse">
            <a:avLst/>
          </a:prstGeom>
          <a:solidFill>
            <a:srgbClr val="D4A934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669280" y="2606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happens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0" y="3246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complete, the licensed signatory signs off via biometric auth.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3760" y="1828800"/>
            <a:ext cx="1645920" cy="24688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2360" y="2057400"/>
            <a:ext cx="457200" cy="457200"/>
          </a:xfrm>
          <a:prstGeom prst="ellipse">
            <a:avLst/>
          </a:prstGeom>
          <a:solidFill>
            <a:srgbClr val="D4A934"/>
          </a:solidFill>
          <a:ln/>
        </p:spPr>
      </p:sp>
      <p:sp>
        <p:nvSpPr>
          <p:cNvPr id="27" name="Text 25"/>
          <p:cNvSpPr/>
          <p:nvPr/>
        </p:nvSpPr>
        <p:spPr>
          <a:xfrm>
            <a:off x="745236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360920" y="2606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releases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60920" y="3246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released to seller. Audit chain entry written. Done.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state change leaves a trail. Hand the trail to a SACAA inspector tomorrow.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COMPLIANCE OFFICER'S MONDAY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dashboard, not a panic spreadsheet.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993392" cy="137160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965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94360" y="269748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EXPIRING &lt; 90D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42032" y="1828800"/>
            <a:ext cx="1993392" cy="137160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9192" y="1965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A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 2.4M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679192" y="269748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IN ESCROW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26864" y="1828800"/>
            <a:ext cx="1993392" cy="137160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64024" y="1965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84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64024" y="269748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AOG EVENTS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11696" y="1828800"/>
            <a:ext cx="1993392" cy="137160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48856" y="1965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A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848856" y="269748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 INTEGRITY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777240"/>
          </a:xfrm>
          <a:prstGeom prst="rect">
            <a:avLst/>
          </a:prstGeom>
          <a:solidFill>
            <a:srgbClr val="D4A93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4747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▸ Generate audit pack — last 12 months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0" y="34747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ready in 2 sec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compliance officer goes from firefighter to control-tower operator.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pay when a transaction completes.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2697480" cy="26974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 professionals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completed contracts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61188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crew wallet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vault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matching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subscription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2057400"/>
            <a:ext cx="2697480" cy="2697480"/>
          </a:xfrm>
          <a:prstGeom prst="rect">
            <a:avLst/>
          </a:prstGeom>
          <a:solidFill>
            <a:srgbClr val="D4A934"/>
          </a:solidFill>
          <a:ln w="25400">
            <a:solidFill>
              <a:srgbClr val="D4A9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691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3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3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Airlines &amp; operators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9000" y="27432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 12,500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2900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3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+ 3% commission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29000" y="361188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200 active crew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dashboard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pack export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0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AOG priority matching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2057400"/>
            <a:ext cx="2697480" cy="269748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2194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24231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organisations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0" y="27432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 4,500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21792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+ 5% on parts sales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17920" y="361188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service listings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MRO escrow flow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 verification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analytics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Tier 0 customers to ZAR 6,500/mo for 12 mo in exchange for case-study + introduction rights.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we'll still exist in 5 years.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hash-chained audit ledger is our moat.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SACAA can publish a free public verification portal tomorrow — and we'll still have: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2697480" cy="146304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34440" y="31546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rails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35204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trust them. PayFast integration deep, not bolt-on.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3017520"/>
            <a:ext cx="2697480" cy="146304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⛓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023360" y="31546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 integrity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23360" y="35204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proof anyone can verify. Even SACAA can't replicate.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017520"/>
            <a:ext cx="2697480" cy="1463040"/>
          </a:xfrm>
          <a:prstGeom prst="rect">
            <a:avLst/>
          </a:prstGeom>
          <a:solidFill>
            <a:srgbClr val="152040"/>
          </a:solidFill>
          <a:ln w="12700">
            <a:solidFill>
              <a:srgbClr val="2A35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812280" y="31546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workflow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12280" y="35204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your team's daily compliance routine. Switching cost real.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pay ZAR 10,000 / month, today,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replace your current compliance setup with Naluka?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2697480" cy="1554480"/>
          </a:xfrm>
          <a:prstGeom prst="rect">
            <a:avLst/>
          </a:prstGeom>
          <a:solidFill>
            <a:srgbClr val="152040"/>
          </a:solidFill>
          <a:ln w="25400">
            <a:solidFill>
              <a:srgbClr val="3A8A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089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here. Onboarding call this week. ICP confirmed.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2926080"/>
            <a:ext cx="2697480" cy="1554480"/>
          </a:xfrm>
          <a:prstGeom prst="rect">
            <a:avLst/>
          </a:prstGeom>
          <a:solidFill>
            <a:srgbClr val="152040"/>
          </a:solidFill>
          <a:ln w="25400">
            <a:solidFill>
              <a:srgbClr val="D4A9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31089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BUT…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29000" y="36576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the "but". That's the next sprint.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2926080"/>
            <a:ext cx="2697480" cy="1554480"/>
          </a:xfrm>
          <a:prstGeom prst="rect">
            <a:avLst/>
          </a:prstGeom>
          <a:solidFill>
            <a:srgbClr val="152040"/>
          </a:solidFill>
          <a:ln w="25400">
            <a:solidFill>
              <a:srgbClr val="B84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31089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HERE'S WHY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217920" y="36576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the why. Often more valuable than a yes.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answer — we walk away smarter than we arrived.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pPr indent="0" marL="0">
              <a:buNone/>
            </a:pPr>
            <a:r>
              <a:rPr lang="en-US" sz="1400" b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— OBJECTION HANDLING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they ask "but doesn't X already do this?"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"Won't CAMP/AMOS do this?"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075688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 tracks airframes, not crew. AMOS tracks everything but you can't afford it.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"Won't SACAA build their own?"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898648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already did for pilots. Even if they expand it — you still need escrow and audit pack generation. We win when SACAA's free portal makes verification a commodity and our value moves up-stack.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isn't this just a spreadsheet?"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721608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spreadsheet doesn't notify you 90 days before expiry, doesn't generate audit packs in one click, doesn't hold funds in escrow, and doesn't survive a SACAA inspection.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251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4A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"Aerlex / AvJobs already list aviation jobs."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544568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list. We close — with money, sign-off, and an audit chain. Their network is broader; our value per transaction is higher.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E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Naluka — Compliance + Escrow OS for African Aviation</dc:title>
  <dc:subject>PptxGenJS Presentation</dc:subject>
  <dc:creator>Naluka</dc:creator>
  <cp:lastModifiedBy>Naluka</cp:lastModifiedBy>
  <cp:revision>1</cp:revision>
  <dcterms:created xsi:type="dcterms:W3CDTF">2026-05-05T11:34:08Z</dcterms:created>
  <dcterms:modified xsi:type="dcterms:W3CDTF">2026-05-05T11:34:08Z</dcterms:modified>
</cp:coreProperties>
</file>